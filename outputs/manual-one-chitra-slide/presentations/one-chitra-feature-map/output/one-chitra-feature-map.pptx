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2d473b06eb4f4b" /><Relationship Type="http://schemas.openxmlformats.org/officeDocument/2006/relationships/extended-properties" Target="/docProps/app.xml" Id="R6e6056e50fae4c05" /><Relationship Type="http://schemas.openxmlformats.org/officeDocument/2006/relationships/officeDocument" Target="/ppt/presentation.xml" Id="Refdabfdf40c74b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b2b8f3b4b24348"/>
  </p:sldMasterIdLst>
  <p:notesMasterIdLst>
    <p:notesMasterId xmlns:r="http://schemas.openxmlformats.org/officeDocument/2006/relationships" r:id="Rbd4197a21ff8477a"/>
  </p:notesMasterIdLst>
  <p:sldIdLst>
    <p:sldId xmlns:r="http://schemas.openxmlformats.org/officeDocument/2006/relationships" id="256" r:id="Ra06b946d112040d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b2b8f3b4b24348" /><Relationship Type="http://schemas.openxmlformats.org/officeDocument/2006/relationships/theme" Target="/ppt/theme/theme1.xml" Id="Rcb2e1c9a830f4aba" /><Relationship Type="http://schemas.openxmlformats.org/officeDocument/2006/relationships/notesMaster" Target="/ppt/notesMasters/notesMaster1.xml" Id="Rbd4197a21ff8477a" /><Relationship Type="http://schemas.openxmlformats.org/officeDocument/2006/relationships/presProps" Target="/ppt/presProps.xml" Id="R831a8f5795b24162" /><Relationship Type="http://schemas.openxmlformats.org/officeDocument/2006/relationships/viewProps" Target="/ppt/viewProps.xml" Id="R4baf595db07d4eec" /><Relationship Type="http://schemas.openxmlformats.org/officeDocument/2006/relationships/tableStyles" Target="/ppt/tableStyles.xml" Id="Rfa4eaf6c80e34be8" /><Relationship Type="http://schemas.openxmlformats.org/officeDocument/2006/relationships/slide" Target="/ppt/slides/slide1.xml" Id="Ra06b946d112040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9268681301249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ad747d1be34dcf" /><Relationship Type="http://schemas.openxmlformats.org/officeDocument/2006/relationships/notesMaster" Target="/ppt/notesMasters/notesMaster1.xml" Id="Rb2d96edaf4b846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92d1d9c1e94e8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375f67f127f40d2" /><Relationship Type="http://schemas.openxmlformats.org/officeDocument/2006/relationships/slideLayout" Target="/ppt/slideLayouts/slideLayout2.xml" Id="Rd00008cd6b4949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0008cd6b4949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3fc5f460974059" /><Relationship Type="http://schemas.openxmlformats.org/officeDocument/2006/relationships/notesSlide" Target="/ppt/notesSlides/notesSlide1.xml" Id="Re620d7fcad3b45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281E87-A6C6-49B0-8038-7798E334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3480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2459B-90DE-4853-924B-2117C690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83B3B"/>
                </a:solidFill>
                <a:latin typeface="Aptos"/>
                <a:ea typeface="Aptos"/>
                <a:cs typeface="Aptos"/>
              </a:defRPr>
            </a:pPr>
            <a:r>
              <a:t>ONE CHITRA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1DCA1-4401-40CD-95EB-BA14C272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t>Peta Besar Fitur dan Hubungan Sistem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1A7A67-9DA5-4F89-BABA-A09B4260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101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t>Platform operasional terintegrasi: demand, sales, SCM, inventory, fleet, finance, approval, analytics, dan admin berjalan dalam satu loop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42725-652F-4888-88B0-652A7C3F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43125" cy="4000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CFD8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88007-A68E-49A3-B50F-B16AD3B4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71450"/>
            <a:ext cx="18002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Layer Sistem</a:t>
            </a:r>
          </a:p>
        </p:txBody>
      </p:sp>
      <p:sp>
        <p:nvSpPr>
          <p:cNvPr id="7" name="layer-main-box">
            <a:extLst xmlns:a="http://schemas.openxmlformats.org/drawingml/2006/main">
              <a:ext uri="{FF2B5EF4-FFF2-40B4-BE49-F238E27FC236}">
                <a16:creationId xmlns:a16="http://schemas.microsoft.com/office/drawing/2014/main" id="{B0142D37-9328-4F0F-B8E3-BCA05679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42925"/>
            <a:ext cx="18002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3"/>
            </a:solidFill>
            <a:prstDash val="solid"/>
          </a:ln>
        </p:spPr>
      </p:sp>
      <p:sp>
        <p:nvSpPr>
          <p:cNvPr id="8" name="layer-main-bar">
            <a:extLst xmlns:a="http://schemas.openxmlformats.org/drawingml/2006/main">
              <a:ext uri="{FF2B5EF4-FFF2-40B4-BE49-F238E27FC236}">
                <a16:creationId xmlns:a16="http://schemas.microsoft.com/office/drawing/2014/main" id="{6F11064E-B117-4E90-AA7D-3383B3DA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42925"/>
            <a:ext cx="66675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3B3B"/>
          </a:solidFill>
          <a:ln xmlns:a="http://schemas.openxmlformats.org/drawingml/2006/main">
            <a:noFill/>
            <a:prstDash val="solid"/>
          </a:ln>
        </p:spPr>
      </p:sp>
      <p:sp>
        <p:nvSpPr>
          <p:cNvPr id="9" name="layer-main-title">
            <a:extLst xmlns:a="http://schemas.openxmlformats.org/drawingml/2006/main">
              <a:ext uri="{FF2B5EF4-FFF2-40B4-BE49-F238E27FC236}">
                <a16:creationId xmlns:a16="http://schemas.microsoft.com/office/drawing/2014/main" id="{54DE366B-8498-4D1E-A4E7-8CBC3FB6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42925"/>
            <a:ext cx="15335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Main</a:t>
            </a:r>
          </a:p>
        </p:txBody>
      </p:sp>
      <p:sp>
        <p:nvSpPr>
          <p:cNvPr id="10" name="layer-main-body">
            <a:extLst xmlns:a="http://schemas.openxmlformats.org/drawingml/2006/main">
              <a:ext uri="{FF2B5EF4-FFF2-40B4-BE49-F238E27FC236}">
                <a16:creationId xmlns:a16="http://schemas.microsoft.com/office/drawing/2014/main" id="{28B3C5CC-9D75-4709-B90E-611D04BA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42925"/>
            <a:ext cx="1533525" cy="9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t>Dashboard, Portal</a:t>
            </a:r>
          </a:p>
        </p:txBody>
      </p:sp>
      <p:sp>
        <p:nvSpPr>
          <p:cNvPr id="11" name="layer-scm-box">
            <a:extLst xmlns:a="http://schemas.openxmlformats.org/drawingml/2006/main">
              <a:ext uri="{FF2B5EF4-FFF2-40B4-BE49-F238E27FC236}">
                <a16:creationId xmlns:a16="http://schemas.microsoft.com/office/drawing/2014/main" id="{2F16BC53-CB4E-4451-A4FD-E19E7AB9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200150"/>
            <a:ext cx="18002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3"/>
            </a:solidFill>
            <a:prstDash val="solid"/>
          </a:ln>
        </p:spPr>
      </p:sp>
      <p:sp>
        <p:nvSpPr>
          <p:cNvPr id="12" name="layer-scm-bar">
            <a:extLst xmlns:a="http://schemas.openxmlformats.org/drawingml/2006/main">
              <a:ext uri="{FF2B5EF4-FFF2-40B4-BE49-F238E27FC236}">
                <a16:creationId xmlns:a16="http://schemas.microsoft.com/office/drawing/2014/main" id="{FE9918E6-64D6-4A70-96BC-BEE2CCE5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200150"/>
            <a:ext cx="66675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7F5C"/>
          </a:solidFill>
          <a:ln xmlns:a="http://schemas.openxmlformats.org/drawingml/2006/main">
            <a:noFill/>
            <a:prstDash val="solid"/>
          </a:ln>
        </p:spPr>
      </p:sp>
      <p:sp>
        <p:nvSpPr>
          <p:cNvPr id="13" name="layer-scm-title">
            <a:extLst xmlns:a="http://schemas.openxmlformats.org/drawingml/2006/main">
              <a:ext uri="{FF2B5EF4-FFF2-40B4-BE49-F238E27FC236}">
                <a16:creationId xmlns:a16="http://schemas.microsoft.com/office/drawing/2014/main" id="{224AE94C-3770-493C-AC1B-73B4E003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200150"/>
            <a:ext cx="15335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SCM</a:t>
            </a:r>
          </a:p>
        </p:txBody>
      </p:sp>
      <p:sp>
        <p:nvSpPr>
          <p:cNvPr id="14" name="layer-scm-body">
            <a:extLst xmlns:a="http://schemas.openxmlformats.org/drawingml/2006/main">
              <a:ext uri="{FF2B5EF4-FFF2-40B4-BE49-F238E27FC236}">
                <a16:creationId xmlns:a16="http://schemas.microsoft.com/office/drawing/2014/main" id="{AAFA1C23-4829-4589-AD4C-B90D07AD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200150"/>
            <a:ext cx="1533525" cy="9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t>Master data, receive, outbound, stock, logistics</a:t>
            </a:r>
          </a:p>
        </p:txBody>
      </p:sp>
      <p:sp>
        <p:nvSpPr>
          <p:cNvPr id="15" name="layer-business-box">
            <a:extLst xmlns:a="http://schemas.openxmlformats.org/drawingml/2006/main">
              <a:ext uri="{FF2B5EF4-FFF2-40B4-BE49-F238E27FC236}">
                <a16:creationId xmlns:a16="http://schemas.microsoft.com/office/drawing/2014/main" id="{187EE40E-A697-4E81-B441-BB13AB7B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57375"/>
            <a:ext cx="18002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3"/>
            </a:solidFill>
            <a:prstDash val="solid"/>
          </a:ln>
        </p:spPr>
      </p:sp>
      <p:sp>
        <p:nvSpPr>
          <p:cNvPr id="16" name="layer-business-bar">
            <a:extLst xmlns:a="http://schemas.openxmlformats.org/drawingml/2006/main">
              <a:ext uri="{FF2B5EF4-FFF2-40B4-BE49-F238E27FC236}">
                <a16:creationId xmlns:a16="http://schemas.microsoft.com/office/drawing/2014/main" id="{4333B64A-D6A6-455C-ADD2-23F9910B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57375"/>
            <a:ext cx="66675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68A8"/>
          </a:solidFill>
          <a:ln xmlns:a="http://schemas.openxmlformats.org/drawingml/2006/main">
            <a:noFill/>
            <a:prstDash val="solid"/>
          </a:ln>
        </p:spPr>
      </p:sp>
      <p:sp>
        <p:nvSpPr>
          <p:cNvPr id="17" name="layer-business-title">
            <a:extLst xmlns:a="http://schemas.openxmlformats.org/drawingml/2006/main">
              <a:ext uri="{FF2B5EF4-FFF2-40B4-BE49-F238E27FC236}">
                <a16:creationId xmlns:a16="http://schemas.microsoft.com/office/drawing/2014/main" id="{E9DD4540-4370-4DBB-8DD8-D032D0AE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57375"/>
            <a:ext cx="15335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Business</a:t>
            </a:r>
          </a:p>
        </p:txBody>
      </p:sp>
      <p:sp>
        <p:nvSpPr>
          <p:cNvPr id="18" name="layer-business-body">
            <a:extLst xmlns:a="http://schemas.openxmlformats.org/drawingml/2006/main">
              <a:ext uri="{FF2B5EF4-FFF2-40B4-BE49-F238E27FC236}">
                <a16:creationId xmlns:a16="http://schemas.microsoft.com/office/drawing/2014/main" id="{DAB9E055-7850-4DFC-AEB9-D4197EFB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57375"/>
            <a:ext cx="1533525" cy="9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t>Marketing, sales, customer, reports, forecast</a:t>
            </a:r>
          </a:p>
        </p:txBody>
      </p:sp>
      <p:sp>
        <p:nvSpPr>
          <p:cNvPr id="19" name="layer-control-box">
            <a:extLst xmlns:a="http://schemas.openxmlformats.org/drawingml/2006/main">
              <a:ext uri="{FF2B5EF4-FFF2-40B4-BE49-F238E27FC236}">
                <a16:creationId xmlns:a16="http://schemas.microsoft.com/office/drawing/2014/main" id="{87465226-BEB9-4BF8-8B3D-94AF1122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514600"/>
            <a:ext cx="18002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3"/>
            </a:solidFill>
            <a:prstDash val="solid"/>
          </a:ln>
        </p:spPr>
      </p:sp>
      <p:sp>
        <p:nvSpPr>
          <p:cNvPr id="20" name="layer-control-bar">
            <a:extLst xmlns:a="http://schemas.openxmlformats.org/drawingml/2006/main">
              <a:ext uri="{FF2B5EF4-FFF2-40B4-BE49-F238E27FC236}">
                <a16:creationId xmlns:a16="http://schemas.microsoft.com/office/drawing/2014/main" id="{B8E0BA1F-DD80-43FE-8B4D-8D94A90D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514600"/>
            <a:ext cx="66675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791F"/>
          </a:solidFill>
          <a:ln xmlns:a="http://schemas.openxmlformats.org/drawingml/2006/main">
            <a:noFill/>
            <a:prstDash val="solid"/>
          </a:ln>
        </p:spPr>
      </p:sp>
      <p:sp>
        <p:nvSpPr>
          <p:cNvPr id="21" name="layer-control-title">
            <a:extLst xmlns:a="http://schemas.openxmlformats.org/drawingml/2006/main">
              <a:ext uri="{FF2B5EF4-FFF2-40B4-BE49-F238E27FC236}">
                <a16:creationId xmlns:a16="http://schemas.microsoft.com/office/drawing/2014/main" id="{A32DF006-3ABE-432B-B20B-F91EE255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514600"/>
            <a:ext cx="15335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Control</a:t>
            </a:r>
          </a:p>
        </p:txBody>
      </p:sp>
      <p:sp>
        <p:nvSpPr>
          <p:cNvPr id="22" name="layer-control-body">
            <a:extLst xmlns:a="http://schemas.openxmlformats.org/drawingml/2006/main">
              <a:ext uri="{FF2B5EF4-FFF2-40B4-BE49-F238E27FC236}">
                <a16:creationId xmlns:a16="http://schemas.microsoft.com/office/drawing/2014/main" id="{80687627-474B-47A7-ACC8-5708212A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514600"/>
            <a:ext cx="1533525" cy="9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t>Approval inbox, settings, matrix</a:t>
            </a:r>
          </a:p>
        </p:txBody>
      </p:sp>
      <p:sp>
        <p:nvSpPr>
          <p:cNvPr id="23" name="layer-admin-box">
            <a:extLst xmlns:a="http://schemas.openxmlformats.org/drawingml/2006/main">
              <a:ext uri="{FF2B5EF4-FFF2-40B4-BE49-F238E27FC236}">
                <a16:creationId xmlns:a16="http://schemas.microsoft.com/office/drawing/2014/main" id="{92F91F99-B558-4B5C-828D-AB494E10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171825"/>
            <a:ext cx="18002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3"/>
            </a:solidFill>
            <a:prstDash val="solid"/>
          </a:ln>
        </p:spPr>
      </p:sp>
      <p:sp>
        <p:nvSpPr>
          <p:cNvPr id="24" name="layer-admin-bar">
            <a:extLst xmlns:a="http://schemas.openxmlformats.org/drawingml/2006/main">
              <a:ext uri="{FF2B5EF4-FFF2-40B4-BE49-F238E27FC236}">
                <a16:creationId xmlns:a16="http://schemas.microsoft.com/office/drawing/2014/main" id="{A8EDF30F-7BCA-4456-91D3-BA447892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171825"/>
            <a:ext cx="66675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4E9B"/>
          </a:solidFill>
          <a:ln xmlns:a="http://schemas.openxmlformats.org/drawingml/2006/main">
            <a:noFill/>
            <a:prstDash val="solid"/>
          </a:ln>
        </p:spPr>
      </p:sp>
      <p:sp>
        <p:nvSpPr>
          <p:cNvPr id="25" name="layer-admin-title">
            <a:extLst xmlns:a="http://schemas.openxmlformats.org/drawingml/2006/main">
              <a:ext uri="{FF2B5EF4-FFF2-40B4-BE49-F238E27FC236}">
                <a16:creationId xmlns:a16="http://schemas.microsoft.com/office/drawing/2014/main" id="{C5D083AC-D652-4F92-91EC-F16C4DFD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171825"/>
            <a:ext cx="15335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System</a:t>
            </a:r>
          </a:p>
        </p:txBody>
      </p:sp>
      <p:sp>
        <p:nvSpPr>
          <p:cNvPr id="26" name="layer-admin-body">
            <a:extLst xmlns:a="http://schemas.openxmlformats.org/drawingml/2006/main">
              <a:ext uri="{FF2B5EF4-FFF2-40B4-BE49-F238E27FC236}">
                <a16:creationId xmlns:a16="http://schemas.microsoft.com/office/drawing/2014/main" id="{9F1708B1-7348-450D-99DE-DDC96097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171825"/>
            <a:ext cx="1533525" cy="9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t>Security, SAP sync, navbar, activity log</a:t>
            </a:r>
          </a:p>
        </p:txBody>
      </p:sp>
      <p:sp>
        <p:nvSpPr>
          <p:cNvPr id="27" name="hub-ring">
            <a:extLst xmlns:a="http://schemas.openxmlformats.org/drawingml/2006/main">
              <a:ext uri="{FF2B5EF4-FFF2-40B4-BE49-F238E27FC236}">
                <a16:creationId xmlns:a16="http://schemas.microsoft.com/office/drawing/2014/main" id="{36F19E42-3FB3-4FFB-BB44-4A39D3E9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12B"/>
            </a:solidFill>
            <a:prstDash val="solid"/>
          </a:ln>
        </p:spPr>
      </p:sp>
      <p:sp>
        <p:nvSpPr>
          <p:cNvPr id="28" name="hub-core">
            <a:extLst xmlns:a="http://schemas.openxmlformats.org/drawingml/2006/main">
              <a:ext uri="{FF2B5EF4-FFF2-40B4-BE49-F238E27FC236}">
                <a16:creationId xmlns:a16="http://schemas.microsoft.com/office/drawing/2014/main" id="{AA28E757-D8D2-4003-963E-17966B07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47850" cy="1847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3D"/>
          </a:solidFill>
          <a:ln xmlns:a="http://schemas.openxmlformats.org/drawingml/2006/main">
            <a:noFill/>
            <a:prstDash val="solid"/>
          </a:ln>
        </p:spPr>
      </p:sp>
      <p:sp>
        <p:nvSpPr>
          <p:cNvPr id="29" name="hub-title">
            <a:extLst xmlns:a="http://schemas.openxmlformats.org/drawingml/2006/main">
              <a:ext uri="{FF2B5EF4-FFF2-40B4-BE49-F238E27FC236}">
                <a16:creationId xmlns:a16="http://schemas.microsoft.com/office/drawing/2014/main" id="{306E270C-B301-4D13-8551-D5344FC6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ONE CHITRA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OPERATING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SYSTEM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F19263-1F0D-4BD6-95BD-000669EC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62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t>single source of truth + workflow control</a:t>
            </a:r>
          </a:p>
        </p:txBody>
      </p:sp>
      <p:sp>
        <p:nvSpPr>
          <p:cNvPr id="31" name="demand-box">
            <a:extLst xmlns:a="http://schemas.openxmlformats.org/drawingml/2006/main">
              <a:ext uri="{FF2B5EF4-FFF2-40B4-BE49-F238E27FC236}">
                <a16:creationId xmlns:a16="http://schemas.microsoft.com/office/drawing/2014/main" id="{AF6456BD-8E21-430A-8794-F5ADD903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526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3"/>
            </a:solidFill>
            <a:prstDash val="solid"/>
          </a:ln>
        </p:spPr>
      </p:sp>
      <p:sp>
        <p:nvSpPr>
          <p:cNvPr id="32" name="demand-bar">
            <a:extLst xmlns:a="http://schemas.openxmlformats.org/drawingml/2006/main">
              <a:ext uri="{FF2B5EF4-FFF2-40B4-BE49-F238E27FC236}">
                <a16:creationId xmlns:a16="http://schemas.microsoft.com/office/drawing/2014/main" id="{C7BBABF3-0C41-478E-94D5-5E3F27EB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68A8"/>
          </a:solidFill>
          <a:ln xmlns:a="http://schemas.openxmlformats.org/drawingml/2006/main">
            <a:noFill/>
            <a:prstDash val="solid"/>
          </a:ln>
        </p:spPr>
      </p:sp>
      <p:sp>
        <p:nvSpPr>
          <p:cNvPr id="33" name="demand-title">
            <a:extLst xmlns:a="http://schemas.openxmlformats.org/drawingml/2006/main">
              <a:ext uri="{FF2B5EF4-FFF2-40B4-BE49-F238E27FC236}">
                <a16:creationId xmlns:a16="http://schemas.microsoft.com/office/drawing/2014/main" id="{A76BED11-667C-474F-BD5E-6784D3AD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85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Demand &amp; Market</a:t>
            </a:r>
          </a:p>
        </p:txBody>
      </p:sp>
      <p:sp>
        <p:nvSpPr>
          <p:cNvPr id="34" name="demand-body">
            <a:extLst xmlns:a="http://schemas.openxmlformats.org/drawingml/2006/main">
              <a:ext uri="{FF2B5EF4-FFF2-40B4-BE49-F238E27FC236}">
                <a16:creationId xmlns:a16="http://schemas.microsoft.com/office/drawing/2014/main" id="{058F2A5C-16EC-4DA8-9D21-148D1BBA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85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t>Campaign Manager, Instagram Generator, Email Lists, Calendar, Forms, Customer Tire History, A2R Competition</a:t>
            </a:r>
          </a:p>
        </p:txBody>
      </p:sp>
      <p:sp>
        <p:nvSpPr>
          <p:cNvPr id="35" name="sales-box">
            <a:extLst xmlns:a="http://schemas.openxmlformats.org/drawingml/2006/main">
              <a:ext uri="{FF2B5EF4-FFF2-40B4-BE49-F238E27FC236}">
                <a16:creationId xmlns:a16="http://schemas.microsoft.com/office/drawing/2014/main" id="{534B0462-B9EA-4E5E-A7BB-B4075400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3050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3"/>
            </a:solidFill>
            <a:prstDash val="solid"/>
          </a:ln>
        </p:spPr>
      </p:sp>
      <p:sp>
        <p:nvSpPr>
          <p:cNvPr id="36" name="sales-bar">
            <a:extLst xmlns:a="http://schemas.openxmlformats.org/drawingml/2006/main">
              <a:ext uri="{FF2B5EF4-FFF2-40B4-BE49-F238E27FC236}">
                <a16:creationId xmlns:a16="http://schemas.microsoft.com/office/drawing/2014/main" id="{51314F3F-38A0-426D-BEB5-7F224446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3B3B"/>
          </a:solidFill>
          <a:ln xmlns:a="http://schemas.openxmlformats.org/drawingml/2006/main">
            <a:noFill/>
            <a:prstDash val="solid"/>
          </a:ln>
        </p:spPr>
      </p:sp>
      <p:sp>
        <p:nvSpPr>
          <p:cNvPr id="37" name="sales-title">
            <a:extLst xmlns:a="http://schemas.openxmlformats.org/drawingml/2006/main">
              <a:ext uri="{FF2B5EF4-FFF2-40B4-BE49-F238E27FC236}">
                <a16:creationId xmlns:a16="http://schemas.microsoft.com/office/drawing/2014/main" id="{44AAC8FA-0745-466D-8BAE-6A4DDDBB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38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Sales &amp; Customer</a:t>
            </a:r>
          </a:p>
        </p:txBody>
      </p:sp>
      <p:sp>
        <p:nvSpPr>
          <p:cNvPr id="38" name="sales-body">
            <a:extLst xmlns:a="http://schemas.openxmlformats.org/drawingml/2006/main">
              <a:ext uri="{FF2B5EF4-FFF2-40B4-BE49-F238E27FC236}">
                <a16:creationId xmlns:a16="http://schemas.microsoft.com/office/drawing/2014/main" id="{BAC08D02-FAD6-40E8-9433-341D98E6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383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t>Quotations, Sales Dashboard, GP Campaign, Competitor, Top Customer, Customer 360, Segmentation, Sales Documents</a:t>
            </a:r>
          </a:p>
        </p:txBody>
      </p:sp>
      <p:sp>
        <p:nvSpPr>
          <p:cNvPr id="39" name="scm-box">
            <a:extLst xmlns:a="http://schemas.openxmlformats.org/drawingml/2006/main">
              <a:ext uri="{FF2B5EF4-FFF2-40B4-BE49-F238E27FC236}">
                <a16:creationId xmlns:a16="http://schemas.microsoft.com/office/drawing/2014/main" id="{84C454EF-01D5-4DE0-BF59-AFDE945C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3"/>
            </a:solidFill>
            <a:prstDash val="solid"/>
          </a:ln>
        </p:spPr>
      </p:sp>
      <p:sp>
        <p:nvSpPr>
          <p:cNvPr id="40" name="scm-bar">
            <a:extLst xmlns:a="http://schemas.openxmlformats.org/drawingml/2006/main">
              <a:ext uri="{FF2B5EF4-FFF2-40B4-BE49-F238E27FC236}">
                <a16:creationId xmlns:a16="http://schemas.microsoft.com/office/drawing/2014/main" id="{1A6F3994-68BB-4D1A-A623-2534AC88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7F5C"/>
          </a:solidFill>
          <a:ln xmlns:a="http://schemas.openxmlformats.org/drawingml/2006/main">
            <a:noFill/>
            <a:prstDash val="solid"/>
          </a:ln>
        </p:spPr>
      </p:sp>
      <p:sp>
        <p:nvSpPr>
          <p:cNvPr id="41" name="scm-title">
            <a:extLst xmlns:a="http://schemas.openxmlformats.org/drawingml/2006/main">
              <a:ext uri="{FF2B5EF4-FFF2-40B4-BE49-F238E27FC236}">
                <a16:creationId xmlns:a16="http://schemas.microsoft.com/office/drawing/2014/main" id="{15C89CA5-CACC-4973-B9D8-D70759B7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00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SCM Execution</a:t>
            </a:r>
          </a:p>
        </p:txBody>
      </p:sp>
      <p:sp>
        <p:nvSpPr>
          <p:cNvPr id="42" name="scm-body">
            <a:extLst xmlns:a="http://schemas.openxmlformats.org/drawingml/2006/main">
              <a:ext uri="{FF2B5EF4-FFF2-40B4-BE49-F238E27FC236}">
                <a16:creationId xmlns:a16="http://schemas.microsoft.com/office/drawing/2014/main" id="{96055F3B-E74A-4F00-8573-98795FF0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00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t>Products, Bundling, Warehouse, Good Receive SAP/Manual, EPR, Vendor Quotation, Sales Order, Delivery, DO Monitoring, Billing</a:t>
            </a:r>
          </a:p>
        </p:txBody>
      </p:sp>
      <p:sp>
        <p:nvSpPr>
          <p:cNvPr id="43" name="inventory-box">
            <a:extLst xmlns:a="http://schemas.openxmlformats.org/drawingml/2006/main">
              <a:ext uri="{FF2B5EF4-FFF2-40B4-BE49-F238E27FC236}">
                <a16:creationId xmlns:a16="http://schemas.microsoft.com/office/drawing/2014/main" id="{71A3BF45-3DED-4453-9EC3-E6C1C263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7813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3"/>
            </a:solidFill>
            <a:prstDash val="solid"/>
          </a:ln>
        </p:spPr>
      </p:sp>
      <p:sp>
        <p:nvSpPr>
          <p:cNvPr id="44" name="inventory-bar">
            <a:extLst xmlns:a="http://schemas.openxmlformats.org/drawingml/2006/main">
              <a:ext uri="{FF2B5EF4-FFF2-40B4-BE49-F238E27FC236}">
                <a16:creationId xmlns:a16="http://schemas.microsoft.com/office/drawing/2014/main" id="{3CABC8BC-DD73-4EFA-9649-E85FCD5B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7F5C"/>
          </a:solidFill>
          <a:ln xmlns:a="http://schemas.openxmlformats.org/drawingml/2006/main">
            <a:noFill/>
            <a:prstDash val="solid"/>
          </a:ln>
        </p:spPr>
      </p:sp>
      <p:sp>
        <p:nvSpPr>
          <p:cNvPr id="45" name="inventory-title">
            <a:extLst xmlns:a="http://schemas.openxmlformats.org/drawingml/2006/main">
              <a:ext uri="{FF2B5EF4-FFF2-40B4-BE49-F238E27FC236}">
                <a16:creationId xmlns:a16="http://schemas.microsoft.com/office/drawing/2014/main" id="{01475D80-FBB6-4786-92DD-91A3976E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14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Inventory Intelligence</a:t>
            </a:r>
          </a:p>
        </p:txBody>
      </p:sp>
      <p:sp>
        <p:nvSpPr>
          <p:cNvPr id="46" name="inventory-body">
            <a:extLst xmlns:a="http://schemas.openxmlformats.org/drawingml/2006/main">
              <a:ext uri="{FF2B5EF4-FFF2-40B4-BE49-F238E27FC236}">
                <a16:creationId xmlns:a16="http://schemas.microsoft.com/office/drawing/2014/main" id="{6F349408-4710-43C1-8ED1-8FB891D1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14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t>Inventory, Stock, Stock Card, SAP Stock, Opname, Movement Log, Reorder Alerts, Dead Stock, Safety Stock ML, Procurement Next</a:t>
            </a:r>
          </a:p>
        </p:txBody>
      </p:sp>
      <p:sp>
        <p:nvSpPr>
          <p:cNvPr id="47" name="fleet-box">
            <a:extLst xmlns:a="http://schemas.openxmlformats.org/drawingml/2006/main">
              <a:ext uri="{FF2B5EF4-FFF2-40B4-BE49-F238E27FC236}">
                <a16:creationId xmlns:a16="http://schemas.microsoft.com/office/drawing/2014/main" id="{57F8B08F-2B6F-4567-B124-E663D5E2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3"/>
            </a:solidFill>
            <a:prstDash val="solid"/>
          </a:ln>
        </p:spPr>
      </p:sp>
      <p:sp>
        <p:nvSpPr>
          <p:cNvPr id="48" name="fleet-bar">
            <a:extLst xmlns:a="http://schemas.openxmlformats.org/drawingml/2006/main">
              <a:ext uri="{FF2B5EF4-FFF2-40B4-BE49-F238E27FC236}">
                <a16:creationId xmlns:a16="http://schemas.microsoft.com/office/drawing/2014/main" id="{80B74C8F-EE28-4FAC-96D5-E39E3055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1219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791F"/>
          </a:solidFill>
          <a:ln xmlns:a="http://schemas.openxmlformats.org/drawingml/2006/main">
            <a:noFill/>
            <a:prstDash val="solid"/>
          </a:ln>
        </p:spPr>
      </p:sp>
      <p:sp>
        <p:nvSpPr>
          <p:cNvPr id="49" name="fleet-title">
            <a:extLst xmlns:a="http://schemas.openxmlformats.org/drawingml/2006/main">
              <a:ext uri="{FF2B5EF4-FFF2-40B4-BE49-F238E27FC236}">
                <a16:creationId xmlns:a16="http://schemas.microsoft.com/office/drawing/2014/main" id="{FA33C065-C8AF-461B-88CE-D4F27683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14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Fleet, Logistics &amp; Cost</a:t>
            </a:r>
          </a:p>
        </p:txBody>
      </p:sp>
      <p:sp>
        <p:nvSpPr>
          <p:cNvPr id="50" name="fleet-body">
            <a:extLst xmlns:a="http://schemas.openxmlformats.org/drawingml/2006/main">
              <a:ext uri="{FF2B5EF4-FFF2-40B4-BE49-F238E27FC236}">
                <a16:creationId xmlns:a16="http://schemas.microsoft.com/office/drawing/2014/main" id="{04DACE9D-1CDC-4070-A338-7A39B503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145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t>Fleet Management, Fleetlist, Delivery Planning Board, Stock Transfer, E-VHS, Serial History, Logistic Cost Log, Master Price, Cost Fuel</a:t>
            </a:r>
          </a:p>
        </p:txBody>
      </p:sp>
      <p:sp>
        <p:nvSpPr>
          <p:cNvPr id="51" name="services-box">
            <a:extLst xmlns:a="http://schemas.openxmlformats.org/drawingml/2006/main">
              <a:ext uri="{FF2B5EF4-FFF2-40B4-BE49-F238E27FC236}">
                <a16:creationId xmlns:a16="http://schemas.microsoft.com/office/drawing/2014/main" id="{EDC47237-87B0-4C67-B7FB-7F18EEE7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954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3"/>
            </a:solidFill>
            <a:prstDash val="solid"/>
          </a:ln>
        </p:spPr>
      </p:sp>
      <p:sp>
        <p:nvSpPr>
          <p:cNvPr id="52" name="services-bar">
            <a:extLst xmlns:a="http://schemas.openxmlformats.org/drawingml/2006/main">
              <a:ext uri="{FF2B5EF4-FFF2-40B4-BE49-F238E27FC236}">
                <a16:creationId xmlns:a16="http://schemas.microsoft.com/office/drawing/2014/main" id="{E4A0EF9E-17F4-422A-BE03-6200DA74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4E9B"/>
          </a:solidFill>
          <a:ln xmlns:a="http://schemas.openxmlformats.org/drawingml/2006/main">
            <a:noFill/>
            <a:prstDash val="solid"/>
          </a:ln>
        </p:spPr>
      </p:sp>
      <p:sp>
        <p:nvSpPr>
          <p:cNvPr id="53" name="services-title">
            <a:extLst xmlns:a="http://schemas.openxmlformats.org/drawingml/2006/main">
              <a:ext uri="{FF2B5EF4-FFF2-40B4-BE49-F238E27FC236}">
                <a16:creationId xmlns:a16="http://schemas.microsoft.com/office/drawing/2014/main" id="{0C5A6D38-0C86-4EBC-8647-6F351E9A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Central Services</a:t>
            </a:r>
          </a:p>
        </p:txBody>
      </p:sp>
      <p:sp>
        <p:nvSpPr>
          <p:cNvPr id="54" name="services-body">
            <a:extLst xmlns:a="http://schemas.openxmlformats.org/drawingml/2006/main">
              <a:ext uri="{FF2B5EF4-FFF2-40B4-BE49-F238E27FC236}">
                <a16:creationId xmlns:a16="http://schemas.microsoft.com/office/drawing/2014/main" id="{A1A34DBB-FD37-4E39-9FD9-E4F4ADF4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t>WIP Repair Dashboard, WIP Repair Table, Master Barang Repair</a:t>
            </a:r>
          </a:p>
        </p:txBody>
      </p:sp>
      <p:sp>
        <p:nvSpPr>
          <p:cNvPr id="55" name="approval-box">
            <a:extLst xmlns:a="http://schemas.openxmlformats.org/drawingml/2006/main">
              <a:ext uri="{FF2B5EF4-FFF2-40B4-BE49-F238E27FC236}">
                <a16:creationId xmlns:a16="http://schemas.microsoft.com/office/drawing/2014/main" id="{6EEEFA5A-4C71-4F69-B122-86FDAE64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68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3"/>
            </a:solidFill>
            <a:prstDash val="solid"/>
          </a:ln>
        </p:spPr>
      </p:sp>
      <p:sp>
        <p:nvSpPr>
          <p:cNvPr id="56" name="approval-bar">
            <a:extLst xmlns:a="http://schemas.openxmlformats.org/drawingml/2006/main">
              <a:ext uri="{FF2B5EF4-FFF2-40B4-BE49-F238E27FC236}">
                <a16:creationId xmlns:a16="http://schemas.microsoft.com/office/drawing/2014/main" id="{CDFDA9AD-1603-4B39-B8CA-AB0498B2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1219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791F"/>
          </a:solidFill>
          <a:ln xmlns:a="http://schemas.openxmlformats.org/drawingml/2006/main">
            <a:noFill/>
            <a:prstDash val="solid"/>
          </a:ln>
        </p:spPr>
      </p:sp>
      <p:sp>
        <p:nvSpPr>
          <p:cNvPr id="57" name="approval-title">
            <a:extLst xmlns:a="http://schemas.openxmlformats.org/drawingml/2006/main">
              <a:ext uri="{FF2B5EF4-FFF2-40B4-BE49-F238E27FC236}">
                <a16:creationId xmlns:a16="http://schemas.microsoft.com/office/drawing/2014/main" id="{FB45D82A-0BF3-4703-9C5F-2F27CE24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00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Approval &amp; Governance</a:t>
            </a:r>
          </a:p>
        </p:txBody>
      </p:sp>
      <p:sp>
        <p:nvSpPr>
          <p:cNvPr id="58" name="approval-body">
            <a:extLst xmlns:a="http://schemas.openxmlformats.org/drawingml/2006/main">
              <a:ext uri="{FF2B5EF4-FFF2-40B4-BE49-F238E27FC236}">
                <a16:creationId xmlns:a16="http://schemas.microsoft.com/office/drawing/2014/main" id="{7A7598C6-8001-4D22-B1F8-1C2ACD87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001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t>Approval Inbox, Approval Settings, Matrix Approval, Security, Users, Roles, Sessions, Audit Trail</a:t>
            </a:r>
          </a:p>
        </p:txBody>
      </p:sp>
      <p:sp>
        <p:nvSpPr>
          <p:cNvPr id="59" name="system-box">
            <a:extLst xmlns:a="http://schemas.openxmlformats.org/drawingml/2006/main">
              <a:ext uri="{FF2B5EF4-FFF2-40B4-BE49-F238E27FC236}">
                <a16:creationId xmlns:a16="http://schemas.microsoft.com/office/drawing/2014/main" id="{FD809B15-94E5-4652-9738-B9B7F6EA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3"/>
            </a:solidFill>
            <a:prstDash val="solid"/>
          </a:ln>
        </p:spPr>
      </p:sp>
      <p:sp>
        <p:nvSpPr>
          <p:cNvPr id="60" name="system-bar">
            <a:extLst xmlns:a="http://schemas.openxmlformats.org/drawingml/2006/main">
              <a:ext uri="{FF2B5EF4-FFF2-40B4-BE49-F238E27FC236}">
                <a16:creationId xmlns:a16="http://schemas.microsoft.com/office/drawing/2014/main" id="{70C6129B-E624-414A-8AE2-45563B96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4E9B"/>
          </a:solidFill>
          <a:ln xmlns:a="http://schemas.openxmlformats.org/drawingml/2006/main">
            <a:noFill/>
            <a:prstDash val="solid"/>
          </a:ln>
        </p:spPr>
      </p:sp>
      <p:sp>
        <p:nvSpPr>
          <p:cNvPr id="61" name="system-title">
            <a:extLst xmlns:a="http://schemas.openxmlformats.org/drawingml/2006/main">
              <a:ext uri="{FF2B5EF4-FFF2-40B4-BE49-F238E27FC236}">
                <a16:creationId xmlns:a16="http://schemas.microsoft.com/office/drawing/2014/main" id="{35B197BF-DF00-4F86-9C9B-9853A9FE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6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Admin &amp; Integration</a:t>
            </a:r>
          </a:p>
        </p:txBody>
      </p:sp>
      <p:sp>
        <p:nvSpPr>
          <p:cNvPr id="62" name="system-body">
            <a:extLst xmlns:a="http://schemas.openxmlformats.org/drawingml/2006/main">
              <a:ext uri="{FF2B5EF4-FFF2-40B4-BE49-F238E27FC236}">
                <a16:creationId xmlns:a16="http://schemas.microsoft.com/office/drawing/2014/main" id="{28AFED12-F93F-4CD8-BDA6-0561BA61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621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t>SAP Stock Feed, SAP Sync Report, Navbar Settings, Knowledge Chitra Jenius, Operational Activity Log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F56D60A-4472-418A-B997-957C2BB2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B3B"/>
          </a:solidFill>
          <a:ln xmlns:a="http://schemas.openxmlformats.org/drawingml/2006/main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BCF6CEE-BC67-4F16-8F44-6248C168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8EE1D79-BE00-4459-9C5E-70685645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F5C"/>
          </a:solidFill>
          <a:ln xmlns:a="http://schemas.openxmlformats.org/drawingml/2006/main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CFFAA7D-DCED-48A2-AD88-7720960C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9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F5C"/>
          </a:solidFill>
          <a:ln xmlns:a="http://schemas.openxmlformats.org/drawingml/2006/main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2C2F078-F96D-42B0-8D54-535E808E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334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FD32359-C3FF-44FF-8BF0-C699BA69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47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2F002D0-9A8E-4104-A209-36798110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E9B"/>
          </a:solidFill>
          <a:ln xmlns:a="http://schemas.openxmlformats.org/drawingml/2006/main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3CCC47A-C167-4406-BAEB-9D98BC73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E59015E-4775-4218-9793-1A0C3306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621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CFD8E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E42B0D5-8E0C-4D12-96E0-E41B2EB3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123825"/>
            <a:ext cx="1314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Business Goals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3842FA8-7B73-416E-B854-5F0D0D4A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71475"/>
            <a:ext cx="1314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t>visibility end-to-end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4262D00-8C50-418E-8A4C-D7C51BCA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600075"/>
            <a:ext cx="1314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t>faster fulfillment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3C6DF62-EEFC-44E4-85F7-3D5DF264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828675"/>
            <a:ext cx="1314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t>controlled approval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D2B3535-5FC0-4040-AFA0-66CB8DE2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1057275"/>
            <a:ext cx="1314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t>forecast + margin insight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43C3ECE-60AE-4D83-9FE1-12F472C2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BFC"/>
          </a:solidFill>
          <a:ln xmlns:a="http://schemas.openxmlformats.org/drawingml/2006/main" w="9525">
            <a:solidFill>
              <a:srgbClr val="2868A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A03D4EC-2E23-48A8-9618-527830D5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4313D"/>
                </a:solidFill>
                <a:latin typeface="Aptos"/>
                <a:ea typeface="Aptos"/>
                <a:cs typeface="Aptos"/>
              </a:defRPr>
            </a:pPr>
            <a:r>
              <a:t>Reports Hub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B13784A-9403-4CBE-81A4-F64B875A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BFC"/>
          </a:solidFill>
          <a:ln xmlns:a="http://schemas.openxmlformats.org/drawingml/2006/main" w="9525">
            <a:solidFill>
              <a:srgbClr val="2868A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B48D9EA-D0CD-4E9A-AD54-6D34196B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4313D"/>
                </a:solidFill>
                <a:latin typeface="Aptos"/>
                <a:ea typeface="Aptos"/>
                <a:cs typeface="Aptos"/>
              </a:defRPr>
            </a:pPr>
            <a:r>
              <a:t>Sales Revenue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655DBD8-1B15-4914-8DF4-658A8508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BFC"/>
          </a:solidFill>
          <a:ln xmlns:a="http://schemas.openxmlformats.org/drawingml/2006/main" w="9525">
            <a:solidFill>
              <a:srgbClr val="2868A8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2438175-AA91-4B56-9CAB-0E2C844A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4313D"/>
                </a:solidFill>
                <a:latin typeface="Aptos"/>
                <a:ea typeface="Aptos"/>
                <a:cs typeface="Aptos"/>
              </a:defRPr>
            </a:pPr>
            <a:r>
              <a:t>ML Forecast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B5A2C49-0458-4F3C-9F2F-B66E1F09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BFC"/>
          </a:solidFill>
          <a:ln xmlns:a="http://schemas.openxmlformats.org/drawingml/2006/main" w="9525">
            <a:solidFill>
              <a:srgbClr val="1E7F5C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2F9A989-6FCB-40BE-A3F1-693B36D8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4313D"/>
                </a:solidFill>
                <a:latin typeface="Aptos"/>
                <a:ea typeface="Aptos"/>
                <a:cs typeface="Aptos"/>
              </a:defRPr>
            </a:pPr>
            <a:r>
              <a:t>ABC Analysis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8DF8395-5236-4437-80EC-0D825F1B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BFC"/>
          </a:solidFill>
          <a:ln xmlns:a="http://schemas.openxmlformats.org/drawingml/2006/main" w="9525">
            <a:solidFill>
              <a:srgbClr val="1E7F5C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912B328-3097-47E9-9339-58F9F655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4313D"/>
                </a:solidFill>
                <a:latin typeface="Aptos"/>
                <a:ea typeface="Aptos"/>
                <a:cs typeface="Aptos"/>
              </a:defRPr>
            </a:pPr>
            <a:r>
              <a:t>Quotation Analysis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E64EBF6-FC68-46EB-BA88-9C35AC9C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BFC"/>
          </a:solidFill>
          <a:ln xmlns:a="http://schemas.openxmlformats.org/drawingml/2006/main" w="9525">
            <a:solidFill>
              <a:srgbClr val="1E7F5C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3D785DB-BD7F-4C74-9F3B-7C8C70FC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4313D"/>
                </a:solidFill>
                <a:latin typeface="Aptos"/>
                <a:ea typeface="Aptos"/>
                <a:cs typeface="Aptos"/>
              </a:defRPr>
            </a:pPr>
            <a:r>
              <a:t>R49 Tire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5A4D90B-C18C-46A4-B2CA-01B06AC7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85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Sumber fitur: navigationConfig + dashboard routes. Semua modul ditempatkan sebagai alur kerja yang saling memberi data, kontrol, dan insight.</a:t>
            </a:r>
          </a:p>
        </p:txBody>
      </p:sp>
    </p:spTree>
    <p:extLst>
      <p:ext uri="{BB962C8B-B14F-4D97-AF65-F5344CB8AC3E}">
        <p14:creationId xmlns:p14="http://schemas.microsoft.com/office/powerpoint/2010/main" val="7844446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2026-05-29T03:15:10.6540000Z</dcterms:created>
  <dcterms:modified xsi:type="dcterms:W3CDTF">2026-05-29T03:15:10.6540000Z</dcterms:modified>
</coreProperties>
</file>